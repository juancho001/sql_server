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3415" y="2522855"/>
            <a:ext cx="9144000" cy="906145"/>
          </a:xfrm>
        </p:spPr>
        <p:txBody>
          <a:bodyPr/>
          <a:p>
            <a:r>
              <a:rPr lang="en-US" altLang="en-GB" sz="4800" b="1">
                <a:solidFill>
                  <a:schemeClr val="bg1"/>
                </a:solidFill>
              </a:rPr>
              <a:t>Definición de Terminos</a:t>
            </a:r>
            <a:endParaRPr lang="en-US" altLang="en-GB" sz="4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1"/>
                </a:solidFill>
                <a:sym typeface="+mn-ea"/>
              </a:rPr>
              <a:t>Que es un dato</a:t>
            </a:r>
            <a:endParaRPr lang="en-GB" altLang="en-US" b="1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09270" y="1121410"/>
            <a:ext cx="11139805" cy="5134610"/>
          </a:xfrm>
        </p:spPr>
        <p:txBody>
          <a:bodyPr>
            <a:normAutofit lnSpcReduction="20000"/>
          </a:bodyPr>
          <a:p>
            <a:pPr marL="0" indent="0" algn="just">
              <a:buNone/>
            </a:pPr>
            <a:r>
              <a:rPr lang="en-US" altLang="en-GB" sz="1600"/>
              <a:t>Un dato es la unidad m</a:t>
            </a:r>
            <a:r>
              <a:rPr lang="en-US" altLang="en-US" sz="1600"/>
              <a:t>í</a:t>
            </a:r>
            <a:r>
              <a:rPr lang="en-US" altLang="en-GB" sz="1600"/>
              <a:t>nima de informaci</a:t>
            </a:r>
            <a:r>
              <a:rPr lang="en-US" altLang="en-US" sz="1600"/>
              <a:t>ó</a:t>
            </a:r>
            <a:r>
              <a:rPr lang="en-US" altLang="en-GB" sz="1600"/>
              <a:t>n que se representa de manera simb</a:t>
            </a:r>
            <a:r>
              <a:rPr lang="en-US" altLang="en-US" sz="1600"/>
              <a:t>ó</a:t>
            </a:r>
            <a:r>
              <a:rPr lang="en-US" altLang="en-GB" sz="1600"/>
              <a:t>lica (mediante n</a:t>
            </a:r>
            <a:r>
              <a:rPr lang="en-US" altLang="en-US" sz="1600"/>
              <a:t>ú</a:t>
            </a:r>
            <a:r>
              <a:rPr lang="en-US" altLang="en-GB" sz="1600"/>
              <a:t>meros, letras o signos) un hecho, atributo o variable cuantitativa o cualitativa</a:t>
            </a:r>
            <a:endParaRPr lang="en-US" altLang="en-GB" sz="1600"/>
          </a:p>
          <a:p>
            <a:pPr algn="just"/>
            <a:endParaRPr lang="en-US" altLang="en-GB" sz="1600"/>
          </a:p>
          <a:p>
            <a:pPr marL="0" indent="0" algn="ctr">
              <a:buNone/>
            </a:pPr>
            <a:r>
              <a:rPr lang="en-US" altLang="en-GB" sz="1600" b="1"/>
              <a:t>Aqu</a:t>
            </a:r>
            <a:r>
              <a:rPr lang="en-US" altLang="en-US" sz="1600" b="1"/>
              <a:t>í</a:t>
            </a:r>
            <a:r>
              <a:rPr lang="en-US" altLang="en-GB" sz="1600" b="1"/>
              <a:t> tienes los puntos clave para entender este concepto</a:t>
            </a:r>
            <a:endParaRPr lang="en-US" altLang="en-GB" sz="1600"/>
          </a:p>
          <a:p>
            <a:pPr algn="just"/>
            <a:endParaRPr lang="en-US" altLang="en-GB" sz="1600" b="1"/>
          </a:p>
          <a:p>
            <a:pPr algn="just"/>
            <a:r>
              <a:rPr lang="en-US" altLang="en-GB" sz="1600" b="1"/>
              <a:t>Naturaleza</a:t>
            </a:r>
            <a:r>
              <a:rPr lang="en-US" altLang="en-GB" sz="1600"/>
              <a:t>: Es una representaci</a:t>
            </a:r>
            <a:r>
              <a:rPr lang="en-US" altLang="en-US" sz="1600"/>
              <a:t>ó</a:t>
            </a:r>
            <a:r>
              <a:rPr lang="en-US" altLang="en-GB" sz="1600"/>
              <a:t>n formal de la realidad (como "123", "azul" o "25.5") que, por s</a:t>
            </a:r>
            <a:r>
              <a:rPr lang="en-US" altLang="en-US" sz="1600"/>
              <a:t>í</a:t>
            </a:r>
            <a:r>
              <a:rPr lang="en-US" altLang="en-GB" sz="1600"/>
              <a:t> sola, carece de un significado completo o contexto.</a:t>
            </a:r>
            <a:endParaRPr lang="en-US" altLang="en-GB" sz="1600"/>
          </a:p>
          <a:p>
            <a:pPr marL="0" indent="0" algn="just">
              <a:buNone/>
            </a:pPr>
            <a:endParaRPr lang="en-US" altLang="en-GB" sz="1600"/>
          </a:p>
          <a:p>
            <a:pPr algn="just"/>
            <a:r>
              <a:rPr lang="en-US" altLang="en-GB" sz="1600" b="1"/>
              <a:t>Funci</a:t>
            </a:r>
            <a:r>
              <a:rPr lang="en-US" altLang="en-US" sz="1600" b="1"/>
              <a:t>ó</a:t>
            </a:r>
            <a:r>
              <a:rPr lang="en-US" altLang="en-GB" sz="1600" b="1"/>
              <a:t>n</a:t>
            </a:r>
            <a:r>
              <a:rPr lang="en-US" altLang="en-GB" sz="1600"/>
              <a:t>: Los datos son los "insumos" que las computadoras y los humanos procesan para convertirlos en informaci</a:t>
            </a:r>
            <a:r>
              <a:rPr lang="en-US" altLang="en-US" sz="1600"/>
              <a:t>ó</a:t>
            </a:r>
            <a:r>
              <a:rPr lang="en-US" altLang="en-GB" sz="1600"/>
              <a:t>n </a:t>
            </a:r>
            <a:r>
              <a:rPr lang="en-US" altLang="en-US" sz="1600"/>
              <a:t>ú</a:t>
            </a:r>
            <a:r>
              <a:rPr lang="en-US" altLang="en-GB" sz="1600"/>
              <a:t>til.</a:t>
            </a:r>
            <a:endParaRPr lang="en-US" altLang="en-GB" sz="1600"/>
          </a:p>
          <a:p>
            <a:pPr algn="just"/>
            <a:endParaRPr lang="en-US" altLang="en-GB" sz="1600" b="1"/>
          </a:p>
          <a:p>
            <a:pPr algn="just"/>
            <a:r>
              <a:rPr lang="en-US" altLang="en-GB" sz="1600" b="1"/>
              <a:t>Tipos comunes:</a:t>
            </a:r>
            <a:endParaRPr lang="en-US" altLang="en-GB" sz="1600" b="1"/>
          </a:p>
          <a:p>
            <a:pPr algn="just"/>
            <a:endParaRPr lang="en-US" altLang="en-GB" sz="1600" b="1"/>
          </a:p>
          <a:p>
            <a:pPr algn="just"/>
            <a:r>
              <a:rPr lang="en-US" altLang="en-GB" sz="1600" b="1"/>
              <a:t>Num</a:t>
            </a:r>
            <a:r>
              <a:rPr lang="en-US" altLang="en-US" sz="1600" b="1"/>
              <a:t>é</a:t>
            </a:r>
            <a:r>
              <a:rPr lang="en-US" altLang="en-GB" sz="1600" b="1"/>
              <a:t>ricos: </a:t>
            </a:r>
            <a:r>
              <a:rPr lang="en-US" altLang="en-GB" sz="1600"/>
              <a:t>N</a:t>
            </a:r>
            <a:r>
              <a:rPr lang="en-US" altLang="en-US" sz="1600"/>
              <a:t>ú</a:t>
            </a:r>
            <a:r>
              <a:rPr lang="en-US" altLang="en-GB" sz="1600"/>
              <a:t>meros enteros o reales (ej. la edad de una persona).</a:t>
            </a:r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r>
              <a:rPr lang="en-US" altLang="en-GB" sz="1600" b="1"/>
              <a:t>Alfanum</a:t>
            </a:r>
            <a:r>
              <a:rPr lang="en-US" altLang="en-US" sz="1600" b="1"/>
              <a:t>é</a:t>
            </a:r>
            <a:r>
              <a:rPr lang="en-US" altLang="en-GB" sz="1600" b="1"/>
              <a:t>ricos:</a:t>
            </a:r>
            <a:r>
              <a:rPr lang="en-US" altLang="en-GB" sz="1600"/>
              <a:t> Letras y s</a:t>
            </a:r>
            <a:r>
              <a:rPr lang="en-US" altLang="en-US" sz="1600"/>
              <a:t>í</a:t>
            </a:r>
            <a:r>
              <a:rPr lang="en-US" altLang="en-GB" sz="1600"/>
              <a:t>mbolos (ej. un nombre o una direcci</a:t>
            </a:r>
            <a:r>
              <a:rPr lang="en-US" altLang="en-US" sz="1600"/>
              <a:t>ó</a:t>
            </a:r>
            <a:r>
              <a:rPr lang="en-US" altLang="en-GB" sz="1600"/>
              <a:t>n).</a:t>
            </a:r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r>
              <a:rPr lang="en-US" altLang="en-GB" sz="1600" b="1"/>
              <a:t>L</a:t>
            </a:r>
            <a:r>
              <a:rPr lang="en-US" altLang="en-US" sz="1600" b="1"/>
              <a:t>ó</a:t>
            </a:r>
            <a:r>
              <a:rPr lang="en-US" altLang="en-GB" sz="1600" b="1"/>
              <a:t>gicos:</a:t>
            </a:r>
            <a:r>
              <a:rPr lang="en-US" altLang="en-GB" sz="1600"/>
              <a:t> Valores de verdadero o falso</a:t>
            </a:r>
            <a:endParaRPr lang="en-US" altLang="en-GB" sz="1600"/>
          </a:p>
          <a:p>
            <a:pPr algn="just"/>
            <a:endParaRPr lang="en-US" altLang="en-GB" sz="1600" b="1"/>
          </a:p>
          <a:p>
            <a:pPr algn="just"/>
            <a:r>
              <a:rPr lang="en-US" altLang="en-GB" sz="1600" b="1"/>
              <a:t>Nota: </a:t>
            </a:r>
            <a:r>
              <a:rPr lang="en-US" altLang="en-GB" sz="1600" b="1">
                <a:solidFill>
                  <a:srgbClr val="FF0000"/>
                </a:solidFill>
              </a:rPr>
              <a:t>Un dato Aislado es incomprensible, irrelevante, no genera ni contiene informaci</a:t>
            </a:r>
            <a:r>
              <a:rPr lang="en-US" altLang="en-US" sz="1600" b="1">
                <a:solidFill>
                  <a:srgbClr val="FF0000"/>
                </a:solidFill>
              </a:rPr>
              <a:t>ó</a:t>
            </a:r>
            <a:r>
              <a:rPr lang="en-US" altLang="en-GB" sz="1600" b="1">
                <a:solidFill>
                  <a:srgbClr val="FF0000"/>
                </a:solidFill>
              </a:rPr>
              <a:t>n</a:t>
            </a:r>
            <a:endParaRPr lang="en-US" altLang="en-GB"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690"/>
            <a:ext cx="10515600" cy="684530"/>
          </a:xfrm>
        </p:spPr>
        <p:txBody>
          <a:bodyPr>
            <a:normAutofit/>
          </a:bodyPr>
          <a:p>
            <a:pPr algn="ctr"/>
            <a:r>
              <a:rPr lang="en-US" altLang="en-GB" b="1">
                <a:solidFill>
                  <a:schemeClr val="accent2"/>
                </a:solidFill>
              </a:rPr>
              <a:t>Concepto de informaci</a:t>
            </a:r>
            <a:r>
              <a:rPr lang="en-US" altLang="en-US" b="1">
                <a:solidFill>
                  <a:schemeClr val="accent2"/>
                </a:solidFill>
              </a:rPr>
              <a:t>ó</a:t>
            </a:r>
            <a:r>
              <a:rPr lang="en-US" altLang="en-GB" b="1">
                <a:solidFill>
                  <a:schemeClr val="accent2"/>
                </a:solidFill>
              </a:rPr>
              <a:t>n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7120"/>
            <a:ext cx="10515600" cy="5090160"/>
          </a:xfrm>
        </p:spPr>
        <p:txBody>
          <a:bodyPr/>
          <a:p>
            <a:pPr marL="0" indent="0" algn="just">
              <a:buNone/>
            </a:pPr>
            <a:r>
              <a:rPr lang="en-US" altLang="en-GB" sz="1800"/>
              <a:t>La informaci</a:t>
            </a:r>
            <a:r>
              <a:rPr lang="en-US" altLang="en-US" sz="1800"/>
              <a:t>ó</a:t>
            </a:r>
            <a:r>
              <a:rPr lang="en-US" altLang="en-GB" sz="1800"/>
              <a:t>n es un conjunto organizado de datos procesados que constituyen un mensaje, cambiando el estado de conocimiento de quien lo recibe. Funciona reduciendo la incertidumbre sobre un hecho o fen</a:t>
            </a:r>
            <a:r>
              <a:rPr lang="en-US" altLang="en-US" sz="1800"/>
              <a:t>ó</a:t>
            </a:r>
            <a:r>
              <a:rPr lang="en-US" altLang="en-GB" sz="1800"/>
              <a:t>meno, permitiendo la toma de decisiones y la comprensi</a:t>
            </a:r>
            <a:r>
              <a:rPr lang="en-US" altLang="en-US" sz="1800"/>
              <a:t>ó</a:t>
            </a:r>
            <a:r>
              <a:rPr lang="en-US" altLang="en-GB" sz="1800"/>
              <a:t>n de ideas. Se compone de s</a:t>
            </a:r>
            <a:r>
              <a:rPr lang="en-US" altLang="en-US" sz="1800"/>
              <a:t>í</a:t>
            </a:r>
            <a:r>
              <a:rPr lang="en-US" altLang="en-GB" sz="1800"/>
              <a:t>mbolos y signos que transmiten sentido. </a:t>
            </a:r>
            <a:endParaRPr lang="en-US" altLang="en-GB" sz="1800"/>
          </a:p>
          <a:p>
            <a:pPr marL="0" indent="0" algn="just">
              <a:buNone/>
            </a:pPr>
            <a:endParaRPr lang="en-US" altLang="en-GB" sz="1800"/>
          </a:p>
          <a:p>
            <a:pPr marL="0" indent="0" algn="ctr">
              <a:buNone/>
            </a:pPr>
            <a:r>
              <a:rPr lang="en-US" altLang="en-GB" sz="1800" b="1"/>
              <a:t>Aqu</a:t>
            </a:r>
            <a:r>
              <a:rPr lang="en-US" altLang="en-US" sz="1800" b="1"/>
              <a:t>í</a:t>
            </a:r>
            <a:r>
              <a:rPr lang="en-US" altLang="en-GB" sz="1800" b="1"/>
              <a:t> los aspectos clave del concepto de informaci</a:t>
            </a:r>
            <a:r>
              <a:rPr lang="en-US" altLang="en-US" sz="1800" b="1"/>
              <a:t>ó</a:t>
            </a:r>
            <a:r>
              <a:rPr lang="en-US" altLang="en-GB" sz="1800" b="1"/>
              <a:t>n</a:t>
            </a:r>
            <a:endParaRPr lang="en-US" altLang="en-GB" sz="1800" b="1"/>
          </a:p>
          <a:p>
            <a:pPr marL="0" indent="0" algn="ctr">
              <a:buNone/>
            </a:pPr>
            <a:endParaRPr lang="en-US" altLang="en-GB" sz="1800" b="1"/>
          </a:p>
          <a:p>
            <a:pPr algn="just"/>
            <a:r>
              <a:rPr lang="en-US" altLang="en-GB" sz="1600" b="1"/>
              <a:t>Procesamiento</a:t>
            </a:r>
            <a:r>
              <a:rPr lang="en-US" altLang="en-GB" sz="1600"/>
              <a:t>: Los datos crudos no son informaci</a:t>
            </a:r>
            <a:r>
              <a:rPr lang="en-US" altLang="en-US" sz="1600"/>
              <a:t>ó</a:t>
            </a:r>
            <a:r>
              <a:rPr lang="en-US" altLang="en-GB" sz="1600"/>
              <a:t>n hasta que son organizados, contextualizados y analizados.</a:t>
            </a:r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r>
              <a:rPr lang="en-US" altLang="en-GB" sz="1600" b="1"/>
              <a:t>Prop</a:t>
            </a:r>
            <a:r>
              <a:rPr lang="en-US" altLang="en-US" sz="1600" b="1"/>
              <a:t>ó</a:t>
            </a:r>
            <a:r>
              <a:rPr lang="en-US" altLang="en-GB" sz="1600" b="1"/>
              <a:t>sito</a:t>
            </a:r>
            <a:r>
              <a:rPr lang="en-US" altLang="en-GB" sz="1600"/>
              <a:t>: Su funci</a:t>
            </a:r>
            <a:r>
              <a:rPr lang="en-US" altLang="en-US" sz="1600"/>
              <a:t>ó</a:t>
            </a:r>
            <a:r>
              <a:rPr lang="en-US" altLang="en-GB" sz="1600"/>
              <a:t>n principal es disminuir la incertidumbre y facilitar la toma de decisiones, ya sea para seres vivos o sistemas t</a:t>
            </a:r>
            <a:r>
              <a:rPr lang="en-US" altLang="en-US" sz="1600"/>
              <a:t>é</a:t>
            </a:r>
            <a:r>
              <a:rPr lang="en-US" altLang="en-GB" sz="1600"/>
              <a:t>cnicos.</a:t>
            </a:r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r>
              <a:rPr lang="en-US" altLang="en-GB" sz="1600" b="1"/>
              <a:t>Significado</a:t>
            </a:r>
            <a:r>
              <a:rPr lang="en-US" altLang="en-GB" sz="1600"/>
              <a:t>: Debe tener sentido y relevancia para el receptor, permiti</a:t>
            </a:r>
            <a:r>
              <a:rPr lang="en-US" altLang="en-US" sz="1600"/>
              <a:t>é</a:t>
            </a:r>
            <a:r>
              <a:rPr lang="en-US" altLang="en-GB" sz="1600"/>
              <a:t>ndole entender el mundo o un tema espec</a:t>
            </a:r>
            <a:r>
              <a:rPr lang="en-US" altLang="en-US" sz="1600"/>
              <a:t>í</a:t>
            </a:r>
            <a:r>
              <a:rPr lang="en-US" altLang="en-GB" sz="1600"/>
              <a:t>fico.</a:t>
            </a:r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r>
              <a:rPr lang="en-US" altLang="en-GB" sz="1600" b="1"/>
              <a:t>Caracter</a:t>
            </a:r>
            <a:r>
              <a:rPr lang="en-US" altLang="en-US" sz="1600" b="1"/>
              <a:t>í</a:t>
            </a:r>
            <a:r>
              <a:rPr lang="en-US" altLang="en-GB" sz="1600" b="1"/>
              <a:t>sticas</a:t>
            </a:r>
            <a:r>
              <a:rPr lang="en-US" altLang="en-GB" sz="1600"/>
              <a:t>: La informaci</a:t>
            </a:r>
            <a:r>
              <a:rPr lang="en-US" altLang="en-US" sz="1600"/>
              <a:t>ó</a:t>
            </a:r>
            <a:r>
              <a:rPr lang="en-US" altLang="en-GB" sz="1600"/>
              <a:t>n de calidad debe ser oportuna, precisa, confiable, objetiva y verificable.</a:t>
            </a:r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r>
              <a:rPr lang="en-US" altLang="en-GB" sz="1600" b="1"/>
              <a:t>Tipos</a:t>
            </a:r>
            <a:r>
              <a:rPr lang="en-US" altLang="en-GB" sz="1600"/>
              <a:t>: Puede clasificarse en interna/externa, p</a:t>
            </a:r>
            <a:r>
              <a:rPr lang="en-US" altLang="en-US" sz="1600"/>
              <a:t>ú</a:t>
            </a:r>
            <a:r>
              <a:rPr lang="en-US" altLang="en-GB" sz="1600"/>
              <a:t>blica/privada, confidencial, etc., seg</a:t>
            </a:r>
            <a:r>
              <a:rPr lang="en-US" altLang="en-US" sz="1600"/>
              <a:t>ú</a:t>
            </a:r>
            <a:r>
              <a:rPr lang="en-US" altLang="en-GB" sz="1600"/>
              <a:t>n el contexto.</a:t>
            </a:r>
            <a:endParaRPr lang="en-US" altLang="en-GB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960"/>
          </a:xfrm>
        </p:spPr>
        <p:txBody>
          <a:bodyPr/>
          <a:p>
            <a:pPr algn="ctr"/>
            <a:r>
              <a:rPr lang="en-US" altLang="en-GB" sz="3600" b="1">
                <a:solidFill>
                  <a:schemeClr val="accent2"/>
                </a:solidFill>
              </a:rPr>
              <a:t>Modelo de datos</a:t>
            </a:r>
            <a:endParaRPr lang="en-US" altLang="en-GB"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8080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altLang="en-GB" sz="2000"/>
              <a:t>Un modelo de datos es una representaci</a:t>
            </a:r>
            <a:r>
              <a:rPr lang="en-US" altLang="en-US" sz="2000"/>
              <a:t>ó</a:t>
            </a:r>
            <a:r>
              <a:rPr lang="en-US" altLang="en-GB" sz="2000"/>
              <a:t>n abstracta y estructurada que define c</a:t>
            </a:r>
            <a:r>
              <a:rPr lang="en-US" altLang="en-US" sz="2000"/>
              <a:t>ó</a:t>
            </a:r>
            <a:r>
              <a:rPr lang="en-US" altLang="en-GB" sz="2000"/>
              <a:t>mo se organizan, almacenan, relacionan y manipulan los datos en una base de datos. Act</a:t>
            </a:r>
            <a:r>
              <a:rPr lang="en-US" altLang="en-US" sz="2000"/>
              <a:t>ú</a:t>
            </a:r>
            <a:r>
              <a:rPr lang="en-US" altLang="en-GB" sz="2000"/>
              <a:t>a como un plano detallado, estableciendo reglas y componentes para asegurar la integridad de la informaci</a:t>
            </a:r>
            <a:r>
              <a:rPr lang="en-US" altLang="en-US" sz="2000"/>
              <a:t>ó</a:t>
            </a:r>
            <a:r>
              <a:rPr lang="en-US" altLang="en-GB" sz="2000"/>
              <a:t>n y facilitar su uso estrat</a:t>
            </a:r>
            <a:r>
              <a:rPr lang="en-US" altLang="en-US" sz="2000"/>
              <a:t>é</a:t>
            </a:r>
            <a:r>
              <a:rPr lang="en-US" altLang="en-GB" sz="2000"/>
              <a:t>gico en el negocio</a:t>
            </a:r>
            <a:endParaRPr lang="en-US" altLang="en-GB" sz="2000"/>
          </a:p>
          <a:p>
            <a:pPr marL="0" indent="0" algn="just">
              <a:buNone/>
            </a:pPr>
            <a:endParaRPr lang="en-US" altLang="en-GB" sz="2000"/>
          </a:p>
          <a:p>
            <a:pPr marL="0" indent="0" algn="just">
              <a:buNone/>
            </a:pPr>
            <a:r>
              <a:rPr lang="en-US" altLang="en-GB" sz="2000" b="1"/>
              <a:t>Los modelos de datos son fundamentales para la gesti</a:t>
            </a:r>
            <a:r>
              <a:rPr lang="en-US" altLang="en-US" sz="2000" b="1"/>
              <a:t>ó</a:t>
            </a:r>
            <a:r>
              <a:rPr lang="en-US" altLang="en-GB" sz="2000" b="1"/>
              <a:t>n de informaci</a:t>
            </a:r>
            <a:r>
              <a:rPr lang="en-US" altLang="en-US" sz="2000" b="1"/>
              <a:t>ó</a:t>
            </a:r>
            <a:r>
              <a:rPr lang="en-US" altLang="en-GB" sz="2000" b="1"/>
              <a:t>n y se estructuran principalmente en tres etapas</a:t>
            </a:r>
            <a:endParaRPr lang="en-US" altLang="en-GB" sz="2000"/>
          </a:p>
          <a:p>
            <a:pPr marL="0" indent="0" algn="just">
              <a:buNone/>
            </a:pPr>
            <a:endParaRPr lang="en-US" altLang="en-GB" sz="2000"/>
          </a:p>
          <a:p>
            <a:pPr algn="just"/>
            <a:r>
              <a:rPr lang="en-US" altLang="en-GB" sz="2000" b="1"/>
              <a:t>Modelo Conceptua</a:t>
            </a:r>
            <a:r>
              <a:rPr lang="en-US" altLang="en-GB" sz="2000"/>
              <a:t>l: Define de alto nivel qu</a:t>
            </a:r>
            <a:r>
              <a:rPr lang="en-US" altLang="en-US" sz="2000"/>
              <a:t>é</a:t>
            </a:r>
            <a:r>
              <a:rPr lang="en-US" altLang="en-GB" sz="2000"/>
              <a:t> datos se necesitan y c</a:t>
            </a:r>
            <a:r>
              <a:rPr lang="en-US" altLang="en-US" sz="2000"/>
              <a:t>ó</a:t>
            </a:r>
            <a:r>
              <a:rPr lang="en-US" altLang="en-GB" sz="2000"/>
              <a:t>mo se relacionan, enfoc</a:t>
            </a:r>
            <a:r>
              <a:rPr lang="en-US" altLang="en-US" sz="2000"/>
              <a:t>á</a:t>
            </a:r>
            <a:r>
              <a:rPr lang="en-US" altLang="en-GB" sz="2000"/>
              <a:t>ndose en las necesidades del negocio sin detalles t</a:t>
            </a:r>
            <a:r>
              <a:rPr lang="en-US" altLang="en-US" sz="2000"/>
              <a:t>é</a:t>
            </a:r>
            <a:r>
              <a:rPr lang="en-US" altLang="en-GB" sz="2000"/>
              <a:t>cnicos.</a:t>
            </a:r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r>
              <a:rPr lang="en-US" altLang="en-GB" sz="2000" b="1"/>
              <a:t>Modelo L</a:t>
            </a:r>
            <a:r>
              <a:rPr lang="en-US" altLang="en-US" sz="2000" b="1"/>
              <a:t>ó</a:t>
            </a:r>
            <a:r>
              <a:rPr lang="en-US" altLang="en-GB" sz="2000" b="1"/>
              <a:t>gico</a:t>
            </a:r>
            <a:r>
              <a:rPr lang="en-US" altLang="en-GB" sz="2000"/>
              <a:t>: Detalla las entidades, atributos y relaciones entre ellos, mapeando la estructura de manera m</a:t>
            </a:r>
            <a:r>
              <a:rPr lang="en-US" altLang="en-US" sz="2000"/>
              <a:t>á</a:t>
            </a:r>
            <a:r>
              <a:rPr lang="en-US" altLang="en-GB" sz="2000"/>
              <a:t>s t</a:t>
            </a:r>
            <a:r>
              <a:rPr lang="en-US" altLang="en-US" sz="2000"/>
              <a:t>é</a:t>
            </a:r>
            <a:r>
              <a:rPr lang="en-US" altLang="en-GB" sz="2000"/>
              <a:t>cnica, pero sin depender de un software espec</a:t>
            </a:r>
            <a:r>
              <a:rPr lang="en-US" altLang="en-US" sz="2000"/>
              <a:t>í</a:t>
            </a:r>
            <a:r>
              <a:rPr lang="en-US" altLang="en-GB" sz="2000"/>
              <a:t>fico.</a:t>
            </a:r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r>
              <a:rPr lang="en-US" altLang="en-GB" sz="2000" b="1"/>
              <a:t>Modelo F</a:t>
            </a:r>
            <a:r>
              <a:rPr lang="en-US" altLang="en-US" sz="2000" b="1"/>
              <a:t>í</a:t>
            </a:r>
            <a:r>
              <a:rPr lang="en-US" altLang="en-GB" sz="2000" b="1"/>
              <a:t>sico</a:t>
            </a:r>
            <a:r>
              <a:rPr lang="en-US" altLang="en-GB" sz="2000"/>
              <a:t>: Representa la implementaci</a:t>
            </a:r>
            <a:r>
              <a:rPr lang="en-US" altLang="en-US" sz="2000"/>
              <a:t>ó</a:t>
            </a:r>
            <a:r>
              <a:rPr lang="en-US" altLang="en-GB" sz="2000"/>
              <a:t>n final t</a:t>
            </a:r>
            <a:r>
              <a:rPr lang="en-US" altLang="en-US" sz="2000"/>
              <a:t>é</a:t>
            </a:r>
            <a:r>
              <a:rPr lang="en-US" altLang="en-GB" sz="2000"/>
              <a:t>cnica de la base de datos (tablas, claves for</a:t>
            </a:r>
            <a:r>
              <a:rPr lang="en-US" altLang="en-US" sz="2000"/>
              <a:t>á</a:t>
            </a:r>
            <a:r>
              <a:rPr lang="en-US" altLang="en-GB" sz="2000"/>
              <a:t>neas</a:t>
            </a:r>
            <a:r>
              <a:rPr lang="en-US" altLang="en-US" sz="2000"/>
              <a:t>í</a:t>
            </a:r>
            <a:r>
              <a:rPr lang="en-US" altLang="en-GB" sz="2000"/>
              <a:t>ndices) en un sistema gestor de base de datos espec</a:t>
            </a:r>
            <a:r>
              <a:rPr lang="en-US" altLang="en-US" sz="2000"/>
              <a:t>í</a:t>
            </a:r>
            <a:r>
              <a:rPr lang="en-US" altLang="en-GB" sz="2000"/>
              <a:t>fico (DBMS)</a:t>
            </a:r>
            <a:endParaRPr lang="en-US" altLang="en-GB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2"/>
                </a:solidFill>
              </a:rPr>
              <a:t>Tipos comunes de modelos de datos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000" b="1"/>
              <a:t>Relacional</a:t>
            </a:r>
            <a:r>
              <a:rPr lang="en-US" altLang="en-GB" sz="2000"/>
              <a:t>: Organiza los datos en tablas con filas y columnas, siendo el m</a:t>
            </a:r>
            <a:r>
              <a:rPr lang="en-US" altLang="en-US" sz="2000"/>
              <a:t>á</a:t>
            </a:r>
            <a:r>
              <a:rPr lang="en-US" altLang="en-GB" sz="2000"/>
              <a:t>s utilizado.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/>
              <a:t>Dimensional</a:t>
            </a:r>
            <a:r>
              <a:rPr lang="en-US" altLang="en-GB" sz="2000"/>
              <a:t>: Utilizado en almacenes de datos (data warehouses) para an</a:t>
            </a:r>
            <a:r>
              <a:rPr lang="en-US" altLang="en-US" sz="2000"/>
              <a:t>á</a:t>
            </a:r>
            <a:r>
              <a:rPr lang="en-US" altLang="en-GB" sz="2000"/>
              <a:t>lisis, optimizado para consultas r</a:t>
            </a:r>
            <a:r>
              <a:rPr lang="en-US" altLang="en-US" sz="2000"/>
              <a:t>á</a:t>
            </a:r>
            <a:r>
              <a:rPr lang="en-US" altLang="en-GB" sz="2000"/>
              <a:t>pidas.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/>
              <a:t>Entidad-Relaci</a:t>
            </a:r>
            <a:r>
              <a:rPr lang="en-US" altLang="en-US" sz="2000" b="1"/>
              <a:t>ó</a:t>
            </a:r>
            <a:r>
              <a:rPr lang="en-US" altLang="en-GB" sz="2000" b="1"/>
              <a:t>n (E-R)</a:t>
            </a:r>
            <a:r>
              <a:rPr lang="en-US" altLang="en-GB" sz="2000"/>
              <a:t>: Representaci</a:t>
            </a:r>
            <a:r>
              <a:rPr lang="en-US" altLang="en-US" sz="2000"/>
              <a:t>ó</a:t>
            </a:r>
            <a:r>
              <a:rPr lang="en-US" altLang="en-GB" sz="2000"/>
              <a:t>n gr</a:t>
            </a:r>
            <a:r>
              <a:rPr lang="en-US" altLang="en-US" sz="2000"/>
              <a:t>á</a:t>
            </a:r>
            <a:r>
              <a:rPr lang="en-US" altLang="en-GB" sz="2000"/>
              <a:t>fica que define entidades y sus asociaciones.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/>
              <a:t>Jer</a:t>
            </a:r>
            <a:r>
              <a:rPr lang="en-US" altLang="en-US" sz="2000" b="1"/>
              <a:t>á</a:t>
            </a:r>
            <a:r>
              <a:rPr lang="en-US" altLang="en-GB" sz="2000" b="1"/>
              <a:t>rquico y de Red</a:t>
            </a:r>
            <a:r>
              <a:rPr lang="en-US" altLang="en-GB" sz="2000"/>
              <a:t>: Estructuras m</a:t>
            </a:r>
            <a:r>
              <a:rPr lang="en-US" altLang="en-US" sz="2000"/>
              <a:t>á</a:t>
            </a:r>
            <a:r>
              <a:rPr lang="en-US" altLang="en-GB" sz="2000"/>
              <a:t>s antiguas basadas en </a:t>
            </a:r>
            <a:r>
              <a:rPr lang="en-US" altLang="en-US" sz="2000"/>
              <a:t>á</a:t>
            </a:r>
            <a:r>
              <a:rPr lang="en-US" altLang="en-GB" sz="2000"/>
              <a:t>rboles o redes de registros</a:t>
            </a:r>
            <a:endParaRPr lang="en-US" altLang="en-GB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390"/>
          </a:xfrm>
        </p:spPr>
        <p:txBody>
          <a:bodyPr>
            <a:normAutofit/>
          </a:bodyPr>
          <a:p>
            <a:pPr algn="ctr"/>
            <a:r>
              <a:rPr lang="en-US" altLang="en-GB" b="1">
                <a:solidFill>
                  <a:schemeClr val="accent2"/>
                </a:solidFill>
              </a:rPr>
              <a:t>Que es una entidad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104130"/>
          </a:xfrm>
        </p:spPr>
        <p:txBody>
          <a:bodyPr/>
          <a:p>
            <a:pPr marL="0" indent="0" algn="just">
              <a:buNone/>
            </a:pPr>
            <a:r>
              <a:rPr lang="en-US" altLang="en-GB" sz="2000"/>
              <a:t>Una entidad en una base de datos es un objeto, concepto, lugar o persona del mundo real, con existencia independiente, sobre el cual se almacenan datos, como "Cliente", "Producto" o "Empleado". Representan los componentes fundamentales del modelo entidad-relaci</a:t>
            </a:r>
            <a:r>
              <a:rPr lang="en-US" altLang="en-US" sz="2000"/>
              <a:t>ó</a:t>
            </a:r>
            <a:r>
              <a:rPr lang="en-US" altLang="en-GB" sz="2000"/>
              <a:t>n (ERD) y se materializan f</a:t>
            </a:r>
            <a:r>
              <a:rPr lang="en-US" altLang="en-US" sz="2000"/>
              <a:t>í</a:t>
            </a:r>
            <a:r>
              <a:rPr lang="en-US" altLang="en-GB" sz="2000"/>
              <a:t>sicamente como tablas donde cada fila es una instancia </a:t>
            </a:r>
            <a:r>
              <a:rPr lang="en-US" altLang="en-US" sz="2000"/>
              <a:t>ú</a:t>
            </a:r>
            <a:r>
              <a:rPr lang="en-US" altLang="en-GB" sz="2000"/>
              <a:t>nica</a:t>
            </a:r>
            <a:endParaRPr lang="en-US" altLang="en-GB" sz="2000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1195" y="2295525"/>
            <a:ext cx="5770245" cy="3881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390"/>
          </a:xfrm>
        </p:spPr>
        <p:txBody>
          <a:bodyPr>
            <a:normAutofit/>
          </a:bodyPr>
          <a:p>
            <a:pPr algn="ctr"/>
            <a:r>
              <a:rPr lang="en-US" altLang="en-GB" b="1">
                <a:solidFill>
                  <a:schemeClr val="accent2"/>
                </a:solidFill>
              </a:rPr>
              <a:t>Que es un Atributo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880"/>
            <a:ext cx="10515600" cy="5105400"/>
          </a:xfrm>
        </p:spPr>
        <p:txBody>
          <a:bodyPr/>
          <a:p>
            <a:pPr marL="0" indent="0" algn="just">
              <a:buNone/>
            </a:pPr>
            <a:r>
              <a:rPr lang="en-US" altLang="en-GB" sz="2000"/>
              <a:t>Los atributos en una base de datos son caracter</a:t>
            </a:r>
            <a:r>
              <a:rPr lang="en-US" altLang="en-US" sz="2000"/>
              <a:t>í</a:t>
            </a:r>
            <a:r>
              <a:rPr lang="en-US" altLang="en-GB" sz="2000"/>
              <a:t>sticas, propiedades o rasgos cualitativos y cuantitativos que describen una entidad (objeto, persona o concepto), representando los datos espec</a:t>
            </a:r>
            <a:r>
              <a:rPr lang="en-US" altLang="en-US" sz="2000"/>
              <a:t>í</a:t>
            </a:r>
            <a:r>
              <a:rPr lang="en-US" altLang="en-GB" sz="2000"/>
              <a:t>ficos que se almacenar</a:t>
            </a:r>
            <a:r>
              <a:rPr lang="en-US" altLang="en-US" sz="2000"/>
              <a:t>á</a:t>
            </a:r>
            <a:r>
              <a:rPr lang="en-US" altLang="en-GB" sz="2000"/>
              <a:t>n. En el modelo relacional, los atributos equivalen a las columnas de una tabla, definiendo qu</a:t>
            </a:r>
            <a:r>
              <a:rPr lang="en-US" altLang="en-US" sz="2000"/>
              <a:t>é</a:t>
            </a:r>
            <a:r>
              <a:rPr lang="en-US" altLang="en-GB" sz="2000"/>
              <a:t> informaci</a:t>
            </a:r>
            <a:r>
              <a:rPr lang="en-US" altLang="en-US" sz="2000"/>
              <a:t>ó</a:t>
            </a:r>
            <a:r>
              <a:rPr lang="en-US" altLang="en-GB" sz="2000"/>
              <a:t>n se registra para cada registro o fila</a:t>
            </a:r>
            <a:endParaRPr lang="en-US" altLang="en-GB" sz="2000"/>
          </a:p>
          <a:p>
            <a:pPr marL="0" indent="0" algn="just">
              <a:buNone/>
            </a:pPr>
            <a:endParaRPr lang="en-US" altLang="en-GB" sz="2000"/>
          </a:p>
          <a:p>
            <a:pPr algn="just"/>
            <a:r>
              <a:rPr lang="en-US" altLang="en-GB" sz="2000" b="1"/>
              <a:t>Funci</a:t>
            </a:r>
            <a:r>
              <a:rPr lang="en-US" altLang="en-US" sz="2000" b="1"/>
              <a:t>ó</a:t>
            </a:r>
            <a:r>
              <a:rPr lang="en-US" altLang="en-GB" sz="2000" b="1"/>
              <a:t>n</a:t>
            </a:r>
            <a:r>
              <a:rPr lang="en-US" altLang="en-GB" sz="2000"/>
              <a:t>: Identifican, categorizan y describen los datos de una entidad (por ejemplo, para la entidad "Cliente", los atributos ser</a:t>
            </a:r>
            <a:r>
              <a:rPr lang="en-US" altLang="en-US" sz="2000"/>
              <a:t>í</a:t>
            </a:r>
            <a:r>
              <a:rPr lang="en-US" altLang="en-GB" sz="2000"/>
              <a:t>an Nombre``Direcci</a:t>
            </a:r>
            <a:r>
              <a:rPr lang="en-US" altLang="en-US" sz="2000"/>
              <a:t>ó</a:t>
            </a:r>
            <a:r>
              <a:rPr lang="en-US" altLang="en-GB" sz="2000"/>
              <a:t>n y Tel</a:t>
            </a:r>
            <a:r>
              <a:rPr lang="en-US" altLang="en-US" sz="2000"/>
              <a:t>é</a:t>
            </a:r>
            <a:r>
              <a:rPr lang="en-US" altLang="en-GB" sz="2000"/>
              <a:t>fono).</a:t>
            </a:r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r>
              <a:rPr lang="en-US" altLang="en-GB" sz="2000" b="1"/>
              <a:t>Dominio</a:t>
            </a:r>
            <a:r>
              <a:rPr lang="en-US" altLang="en-GB" sz="2000"/>
              <a:t>: Cada atributo tiene un dominio que define el tipo de datos permitido (n</a:t>
            </a:r>
            <a:r>
              <a:rPr lang="en-US" altLang="en-US" sz="2000"/>
              <a:t>ú</a:t>
            </a:r>
            <a:r>
              <a:rPr lang="en-US" altLang="en-GB" sz="2000"/>
              <a:t>mero, texto, fecha) y sus reglas de validaci</a:t>
            </a:r>
            <a:r>
              <a:rPr lang="en-US" altLang="en-US" sz="2000"/>
              <a:t>ó</a:t>
            </a:r>
            <a:r>
              <a:rPr lang="en-US" altLang="en-GB" sz="2000"/>
              <a:t>n.</a:t>
            </a:r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r>
              <a:rPr lang="en-US" altLang="en-GB" sz="2000" b="1"/>
              <a:t>Atributo Clave (Key)</a:t>
            </a:r>
            <a:r>
              <a:rPr lang="en-US" altLang="en-GB" sz="2000"/>
              <a:t>: Un tipo especial de atributo utilizado para identificar de manera </a:t>
            </a:r>
            <a:r>
              <a:rPr lang="en-US" altLang="en-US" sz="2000"/>
              <a:t>ú</a:t>
            </a:r>
            <a:r>
              <a:rPr lang="en-US" altLang="en-GB" sz="2000"/>
              <a:t>nica cada tupla o fila en la base de datos</a:t>
            </a:r>
            <a:endParaRPr lang="en-US" altLang="en-GB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2"/>
                </a:solidFill>
              </a:rPr>
              <a:t>Tipos de Atributos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000" b="1"/>
              <a:t>Simples</a:t>
            </a:r>
            <a:r>
              <a:rPr lang="en-US" altLang="en-GB" sz="2000"/>
              <a:t>: At</a:t>
            </a:r>
            <a:r>
              <a:rPr lang="en-US" altLang="en-US" sz="2000"/>
              <a:t>ó</a:t>
            </a:r>
            <a:r>
              <a:rPr lang="en-US" altLang="en-GB" sz="2000"/>
              <a:t>micos, no se pueden dividir (ej. Edad).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/>
              <a:t>Compuestos</a:t>
            </a:r>
            <a:r>
              <a:rPr lang="en-US" altLang="en-GB" sz="2000"/>
              <a:t>: Se dividen en subpartes (ej. Direcci</a:t>
            </a:r>
            <a:r>
              <a:rPr lang="en-US" altLang="en-US" sz="2000"/>
              <a:t>ó</a:t>
            </a:r>
            <a:r>
              <a:rPr lang="en-US" altLang="en-GB" sz="2000"/>
              <a:t>n dividida en Calle, Ciudad, C</a:t>
            </a:r>
            <a:r>
              <a:rPr lang="en-US" altLang="en-US" sz="2000"/>
              <a:t>ó</a:t>
            </a:r>
            <a:r>
              <a:rPr lang="en-US" altLang="en-GB" sz="2000"/>
              <a:t>digo Postal).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/>
              <a:t>Monovalorados</a:t>
            </a:r>
            <a:r>
              <a:rPr lang="en-US" altLang="en-GB" sz="2000"/>
              <a:t>: Tienen un solo valor (ej. Fecha de nacimiento).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/>
              <a:t>Multivalorados</a:t>
            </a:r>
            <a:r>
              <a:rPr lang="en-US" altLang="en-GB" sz="2000"/>
              <a:t>: Pueden tener varios valores (ej. Tel</a:t>
            </a:r>
            <a:r>
              <a:rPr lang="en-US" altLang="en-US" sz="2000"/>
              <a:t>é</a:t>
            </a:r>
            <a:r>
              <a:rPr lang="en-US" altLang="en-GB" sz="2000"/>
              <a:t>fonos)</a:t>
            </a:r>
            <a:endParaRPr lang="en-US" altLang="en-GB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885"/>
          </a:xfrm>
        </p:spPr>
        <p:txBody>
          <a:bodyPr>
            <a:normAutofit/>
          </a:bodyPr>
          <a:p>
            <a:pPr algn="ctr"/>
            <a:r>
              <a:rPr lang="en-US" altLang="en-GB" b="1">
                <a:solidFill>
                  <a:schemeClr val="accent2"/>
                </a:solidFill>
              </a:rPr>
              <a:t>Que es un dominio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1575"/>
            <a:ext cx="10515600" cy="5005705"/>
          </a:xfrm>
        </p:spPr>
        <p:txBody>
          <a:bodyPr/>
          <a:p>
            <a:pPr marL="0" indent="0" algn="just">
              <a:buNone/>
            </a:pPr>
            <a:r>
              <a:rPr lang="en-US" altLang="en-GB" sz="2000"/>
              <a:t>Un dominio en una base de datos es el conjunto definido de valores v</a:t>
            </a:r>
            <a:r>
              <a:rPr lang="en-US" altLang="en-US" sz="2000"/>
              <a:t>á</a:t>
            </a:r>
            <a:r>
              <a:rPr lang="en-US" altLang="en-GB" sz="2000"/>
              <a:t>lidos, formatos y restricciones permitidos para un atributo (columna) espec</a:t>
            </a:r>
            <a:r>
              <a:rPr lang="en-US" altLang="en-US" sz="2000"/>
              <a:t>í</a:t>
            </a:r>
            <a:r>
              <a:rPr lang="en-US" altLang="en-GB" sz="2000"/>
              <a:t>fico. Garantiza la integridad y consistencia de los datos al limitar lo que se puede almacenar en un campo, asegurando que solo se ingresen datos precisos y con el significado adecuado</a:t>
            </a:r>
            <a:endParaRPr lang="en-US" altLang="en-GB" sz="2000"/>
          </a:p>
          <a:p>
            <a:pPr marL="0" indent="0" algn="just">
              <a:buNone/>
            </a:pPr>
            <a:endParaRPr lang="en-US" altLang="en-GB" sz="2000"/>
          </a:p>
          <a:p>
            <a:pPr marL="0" indent="0" algn="ctr">
              <a:buNone/>
            </a:pPr>
            <a:r>
              <a:rPr lang="en-US" altLang="en-GB" sz="2000" b="1"/>
              <a:t>Aspectos clave del dominio en bases de datos</a:t>
            </a:r>
            <a:endParaRPr lang="en-US" altLang="en-GB" sz="2000" b="1"/>
          </a:p>
          <a:p>
            <a:pPr marL="0" indent="0" algn="just">
              <a:buNone/>
            </a:pPr>
            <a:endParaRPr lang="en-US" altLang="en-GB" sz="2000"/>
          </a:p>
          <a:p>
            <a:pPr algn="just"/>
            <a:r>
              <a:rPr lang="en-US" altLang="en-GB" sz="2000" b="1"/>
              <a:t>Definici</a:t>
            </a:r>
            <a:r>
              <a:rPr lang="en-US" altLang="en-US" sz="2000" b="1"/>
              <a:t>ó</a:t>
            </a:r>
            <a:r>
              <a:rPr lang="en-US" altLang="en-GB" sz="2000" b="1"/>
              <a:t>n de valores:</a:t>
            </a:r>
            <a:r>
              <a:rPr lang="en-US" altLang="en-GB" sz="2000"/>
              <a:t> Especifica el tipo de dato (entero, texto, fecha) y las reglas o rango de valores permitidos (ej. edad &gt; 0, o una lista espec</a:t>
            </a:r>
            <a:r>
              <a:rPr lang="en-US" altLang="en-US" sz="2000"/>
              <a:t>í</a:t>
            </a:r>
            <a:r>
              <a:rPr lang="en-US" altLang="en-GB" sz="2000"/>
              <a:t>fica: 'Masculino''Femenino''Otro').</a:t>
            </a:r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r>
              <a:rPr lang="en-US" altLang="en-GB" sz="2000" b="1"/>
              <a:t>Integridad de datos:</a:t>
            </a:r>
            <a:r>
              <a:rPr lang="en-US" altLang="en-GB" sz="2000"/>
              <a:t> Evita errores en la entrada de informaci</a:t>
            </a:r>
            <a:r>
              <a:rPr lang="en-US" altLang="en-US" sz="2000"/>
              <a:t>ó</a:t>
            </a:r>
            <a:r>
              <a:rPr lang="en-US" altLang="en-GB" sz="2000"/>
              <a:t>n al restringir valores no v</a:t>
            </a:r>
            <a:r>
              <a:rPr lang="en-US" altLang="en-US" sz="2000"/>
              <a:t>á</a:t>
            </a:r>
            <a:r>
              <a:rPr lang="en-US" altLang="en-GB" sz="2000"/>
              <a:t>lidos o formatos incorrectos</a:t>
            </a:r>
            <a:endParaRPr lang="en-US" altLang="en-GB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2"/>
                </a:solidFill>
              </a:rPr>
              <a:t>Que es una base de datos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altLang="en-GB" sz="2000"/>
              <a:t>Una base de datos es una recopilaci</a:t>
            </a:r>
            <a:r>
              <a:rPr lang="en-US" altLang="en-US" sz="2000"/>
              <a:t>ó</a:t>
            </a:r>
            <a:r>
              <a:rPr lang="en-US" altLang="en-GB" sz="2000"/>
              <a:t>n organizada de informaci</a:t>
            </a:r>
            <a:r>
              <a:rPr lang="en-US" altLang="en-US" sz="2000"/>
              <a:t>ó</a:t>
            </a:r>
            <a:r>
              <a:rPr lang="en-US" altLang="en-GB" sz="2000"/>
              <a:t>n o datos estructurados, almacenados electr</a:t>
            </a:r>
            <a:r>
              <a:rPr lang="en-US" altLang="en-US" sz="2000"/>
              <a:t>ó</a:t>
            </a:r>
            <a:r>
              <a:rPr lang="en-US" altLang="en-GB" sz="2000"/>
              <a:t>nicamente en un sistema inform</a:t>
            </a:r>
            <a:r>
              <a:rPr lang="en-US" altLang="en-US" sz="2000"/>
              <a:t>á</a:t>
            </a:r>
            <a:r>
              <a:rPr lang="en-US" altLang="en-GB" sz="2000"/>
              <a:t>tico, que permite gestionar, recuperar, modificar y eliminar datos eficientemente. Se utilizan para manejar grandes vol</a:t>
            </a:r>
            <a:r>
              <a:rPr lang="en-US" altLang="en-US" sz="2000"/>
              <a:t>ú</a:t>
            </a:r>
            <a:r>
              <a:rPr lang="en-US" altLang="en-GB" sz="2000"/>
              <a:t>menes de informaci</a:t>
            </a:r>
            <a:r>
              <a:rPr lang="en-US" altLang="en-US" sz="2000"/>
              <a:t>ó</a:t>
            </a:r>
            <a:r>
              <a:rPr lang="en-US" altLang="en-GB" sz="2000"/>
              <a:t>n, garantizando seguridad y accesibilidad</a:t>
            </a:r>
            <a:endParaRPr lang="en-US" altLang="en-GB" sz="2000"/>
          </a:p>
          <a:p>
            <a:pPr marL="0" indent="0" algn="just">
              <a:buNone/>
            </a:pPr>
            <a:endParaRPr lang="en-US" altLang="en-GB" sz="2000"/>
          </a:p>
          <a:p>
            <a:pPr marL="0" indent="0" algn="just">
              <a:buNone/>
            </a:pPr>
            <a:endParaRPr lang="en-US" altLang="en-GB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2"/>
                </a:solidFill>
              </a:rPr>
              <a:t>Que es una Tupla de datos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altLang="en-GB" sz="1800"/>
              <a:t>Una tupla en bases de datos relacionales es una fila o registro individual dentro de una tabla, la cual representa una instancia </a:t>
            </a:r>
            <a:r>
              <a:rPr lang="en-US" altLang="en-US" sz="1800"/>
              <a:t>ú</a:t>
            </a:r>
            <a:r>
              <a:rPr lang="en-US" altLang="en-GB" sz="1800"/>
              <a:t>nica de datos. Contiene un conjunto ordenado de valores (atributos o columnas) que definen una entidad espec</a:t>
            </a:r>
            <a:r>
              <a:rPr lang="en-US" altLang="en-US" sz="1800"/>
              <a:t>í</a:t>
            </a:r>
            <a:r>
              <a:rPr lang="en-US" altLang="en-GB" sz="1800"/>
              <a:t>fica, como por ejemplo, los datos completos de un solo cliente en una tabla</a:t>
            </a:r>
            <a:endParaRPr lang="en-US" altLang="en-GB" sz="1800"/>
          </a:p>
          <a:p>
            <a:pPr marL="0" indent="0" algn="ctr">
              <a:buNone/>
            </a:pPr>
            <a:r>
              <a:rPr lang="en-US" altLang="en-GB" sz="2000" b="1"/>
              <a:t>Aqu</a:t>
            </a:r>
            <a:r>
              <a:rPr lang="en-US" altLang="en-US" sz="2000" b="1"/>
              <a:t>í</a:t>
            </a:r>
            <a:r>
              <a:rPr lang="en-US" altLang="en-GB" sz="2000" b="1"/>
              <a:t> se detallan sus caracter</a:t>
            </a:r>
            <a:r>
              <a:rPr lang="en-US" altLang="en-US" sz="2000" b="1"/>
              <a:t>í</a:t>
            </a:r>
            <a:r>
              <a:rPr lang="en-US" altLang="en-GB" sz="2000" b="1"/>
              <a:t>sticas principales</a:t>
            </a:r>
            <a:endParaRPr lang="en-US" altLang="en-GB" sz="2000" b="1"/>
          </a:p>
          <a:p>
            <a:pPr marL="0" indent="0" algn="just">
              <a:buNone/>
            </a:pPr>
            <a:endParaRPr lang="en-US" altLang="en-GB" sz="2000" b="1"/>
          </a:p>
          <a:p>
            <a:pPr algn="just"/>
            <a:r>
              <a:rPr lang="en-US" altLang="en-GB" sz="1800" b="1"/>
              <a:t>Registro </a:t>
            </a:r>
            <a:r>
              <a:rPr lang="en-US" altLang="en-US" sz="1800" b="1"/>
              <a:t>ú</a:t>
            </a:r>
            <a:r>
              <a:rPr lang="en-US" altLang="en-GB" sz="1800" b="1"/>
              <a:t>nico:</a:t>
            </a:r>
            <a:r>
              <a:rPr lang="en-US" altLang="en-GB" sz="1800"/>
              <a:t> Cada tupla corresponde a un objeto, entidad o ocurrencia </a:t>
            </a:r>
            <a:r>
              <a:rPr lang="en-US" altLang="en-US" sz="1800"/>
              <a:t>ú</a:t>
            </a:r>
            <a:r>
              <a:rPr lang="en-US" altLang="en-GB" sz="1800"/>
              <a:t>nica en el modelo relacional.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 b="1"/>
              <a:t>Estructura de Fila:</a:t>
            </a:r>
            <a:r>
              <a:rPr lang="en-US" altLang="en-GB" sz="1800"/>
              <a:t> En la estructura de tabla, la tupla es la fila completa.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 b="1"/>
              <a:t>Componentes:</a:t>
            </a:r>
            <a:r>
              <a:rPr lang="en-US" altLang="en-GB" sz="1800"/>
              <a:t> Est</a:t>
            </a:r>
            <a:r>
              <a:rPr lang="en-US" altLang="en-US" sz="1800"/>
              <a:t>á</a:t>
            </a:r>
            <a:r>
              <a:rPr lang="en-US" altLang="en-GB" sz="1800"/>
              <a:t> formada por una serie de campos (n-tupla), donde cada campo contiene un dato que corresponde a un atributo definido por el esquema de la tabla.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 b="1"/>
              <a:t>Identificaci</a:t>
            </a:r>
            <a:r>
              <a:rPr lang="en-US" altLang="en-US" sz="1800" b="1"/>
              <a:t>ó</a:t>
            </a:r>
            <a:r>
              <a:rPr lang="en-US" altLang="en-GB" sz="1800" b="1"/>
              <a:t>n:</a:t>
            </a:r>
            <a:r>
              <a:rPr lang="en-US" altLang="en-GB" sz="1800"/>
              <a:t> Generalmente, cada tupla es identificada un</a:t>
            </a:r>
            <a:r>
              <a:rPr lang="en-US" altLang="en-US" sz="1800"/>
              <a:t>í</a:t>
            </a:r>
            <a:r>
              <a:rPr lang="en-US" altLang="en-GB" sz="1800"/>
              <a:t>vocamente por una clave principal (primary key)</a:t>
            </a:r>
            <a:endParaRPr lang="en-US" altLang="en-GB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9730" y="782955"/>
            <a:ext cx="11432540" cy="5292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238125"/>
            <a:ext cx="10852150" cy="6381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" y="292100"/>
            <a:ext cx="11804015" cy="60051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465" y="584200"/>
            <a:ext cx="11355070" cy="5484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" y="307975"/>
            <a:ext cx="11970385" cy="6142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6424</Words>
  <Application>WPS Presentation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avila</dc:creator>
  <cp:lastModifiedBy>avila</cp:lastModifiedBy>
  <cp:revision>3</cp:revision>
  <dcterms:created xsi:type="dcterms:W3CDTF">2025-07-23T00:59:00Z</dcterms:created>
  <dcterms:modified xsi:type="dcterms:W3CDTF">2026-03-01T17:36:46Z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DC6906A1984B47EB82BCDC972B8B4EB6_11</vt:lpwstr>
  </property>
  <property fmtid="{D5CDD505-2E9C-101B-9397-08002B2CF9AE}" pid="3" name="KSOProductBuildVer">
    <vt:lpwstr>2057-12.2.0.23197</vt:lpwstr>
  </property>
</Properties>
</file>